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1F4E79">
              <a:alpha val="30000"/>
            </a:srgbClr>
          </a:solidFill>
          <a:ln w="12700">
            <a:solidFill>
              <a:srgbClr val="1F4E7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548640"/>
            <a:ext cx="1645920" cy="164592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Adoption &amp;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2025  |  End-to-End Data Analytics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50292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9776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39776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977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39776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3977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39776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977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39776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977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SQLAlchemy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196596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709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" y="5376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Datasets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4663440"/>
            <a:ext cx="196596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97480" y="4709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14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697480" y="5376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Countries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4663440"/>
            <a:ext cx="196596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4709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8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892040" y="5376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Industries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86600" y="4663440"/>
            <a:ext cx="196596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86600" y="4709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517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086600" y="5376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Raw Rows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4663440"/>
            <a:ext cx="196596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81160" y="4709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5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9281160" y="5376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Dashboard Pages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McKinsey  ·  Stanford HAI  ·  OECD  ·  Statista  ·  IDC  ·  Amazon / Alphabet Annual Reports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data is scattered across 6 independent research organisations — McKinsey, Stanford HAI, OECD, Statista, IDC, and cloud provider annual reports. Each dataset covers a different lens: adoption rates, investment, policy readiness, spending barriers, or infrastructure.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unified view to answer: Who is winning the AI race? Where are the gaps? Which cloud provider is gaining ground?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2735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Business Question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Which industries &amp; regions lead AI adoption — and which lag?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32461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2735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Business Question 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379476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Where does high readiness meet low revenue (opportunity gap)?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310896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32461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32735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Business Question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379476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How are AWS, Azure and Google Cloud competing for dominance?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5943600"/>
            <a:ext cx="121615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943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Solution:  Single end-to-end pipeline — Python cleaning + MySQL storage + Power BI visualisation — unified across all 6 sources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Pipeline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3657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Raw CSVs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517 rows total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McKinsey · Stanford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OECD · Statista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IDC · Cloud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3063240"/>
            <a:ext cx="2926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280160"/>
            <a:ext cx="2011680" cy="36576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4173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2057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Cleaning &amp; EDA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0048" y="2880360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Type cast · dedup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null fill · normalise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IQR outlier detect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YoY growth calc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3063240"/>
            <a:ext cx="2926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2896" y="1280160"/>
            <a:ext cx="2011680" cy="3657600"/>
          </a:xfrm>
          <a:prstGeom prst="rect">
            <a:avLst/>
          </a:prstGeom>
          <a:solidFill>
            <a:srgbClr val="155B82"/>
          </a:solidFill>
          <a:ln w="12700">
            <a:solidFill>
              <a:srgbClr val="155B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14416" y="14173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74336" y="2057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Clean Tables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2880360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ai_industry 238r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ai_geo 84r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ai_cloud 24r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Zero _x/_y cols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94576" y="3063240"/>
            <a:ext cx="2926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1280160"/>
            <a:ext cx="2011680" cy="3657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18704" y="14173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78624" y="2057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 SQL Queries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78624" y="2880360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Window functions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CAGR · CASE WHEN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JOINs · aggregation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ai_adoption_db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98864" y="3063240"/>
            <a:ext cx="2926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91472" y="1280160"/>
            <a:ext cx="2011680" cy="365760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22992" y="14173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299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82912" y="2057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Pages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82912" y="2880360"/>
            <a:ext cx="1828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20+ DAX measures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Scatter · Matrix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Forecast · Maps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Interactive slicers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5166360"/>
            <a:ext cx="11521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5166360"/>
            <a:ext cx="10972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230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Key Design Decision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577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Overlapping column names (region, country_code) across sources would create _x/_y duplicate columns on merge. Solution: drop overlapping columns from secondary sources BEFORE merging. Result: zero duplicate suffixes across all 3 final tables.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Power BI Dashboard — 5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943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585216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280160"/>
            <a:ext cx="5212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75120" y="139903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69480" y="13350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Executive Overview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269480" y="16276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 KPIs · Adoption trend · Spending growth · Revenue donut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83680" y="2121408"/>
            <a:ext cx="5212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22402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21762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Geographic Analysis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26948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Bubble map · Top 10 countries · Readiness scores · Scatter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83680" y="2962656"/>
            <a:ext cx="5212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75120" y="308152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30175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Industry Adoption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269480" y="33101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Heatmap matrix · Rankings · Top 5 trend · Barrier analysis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83680" y="3803904"/>
            <a:ext cx="5212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75120" y="392277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69480" y="38587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AI Platforms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269480" y="41513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Revenue race · YoY growth · Market share shift · Table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83680" y="4645152"/>
            <a:ext cx="5212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675120" y="47640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69480" y="470001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Future Opportunity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269480" y="49926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Opportunity quadrant · Forecast · Readiness 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1 — Executive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0" y="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2019 – 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0408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7830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783080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8562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73.4%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5528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Global AI adoption in 2025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Up from 33.9% in 2019 — doubled in 6 years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0" y="299008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0" y="2990088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0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$715.7B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5528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market revenue 2019–24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5528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North America holds 55.5% share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772400" y="4197096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0" y="4197096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270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49.1%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955280" y="4654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Avg YoY growth rate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55280" y="4928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Geo &amp; cloud data; consistent acceleration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0" y="54041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772400" y="5404104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54772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45.1%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955280" y="5861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Avg pilot-to-production rate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61356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54.9% of AI pilots stuck — scaling gap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2 — Geographic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14 Countries · 2019–2024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0408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Geo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7830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0" y="192024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18379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 dominates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66760" y="2130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$326.8B total investment — 5× China's $64.4B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0" y="26974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63840" y="283464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66760" y="27523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India fastest-improving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66760" y="30449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+15.8 readiness pts in 5 yrs — fastest globally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0" y="36118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0" y="374904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66760" y="36667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Opportunity quadrant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66760" y="3959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Singapore, Australia, Japan: high readiness, low revenue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72400" y="45262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0" y="466344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6760" y="4581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Scatter quadrant logic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4873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X=readiness, Y=revenue, Bubble=investment size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0" y="5440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863840" y="557784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495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G20 vs Non-G20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66760" y="5788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G20 nations hold 85%+ of total AI investment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3 — Industry Adoption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8 Industries · 2019–2025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0408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Industry Rankings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73736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1737360"/>
            <a:ext cx="2487168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155680" y="18562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68%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2350008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2350008"/>
            <a:ext cx="21214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Fin. Services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55680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58%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0" y="2962656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2962656"/>
            <a:ext cx="2121408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0" y="3081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Professional Svc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155680" y="3081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58%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0" y="3575304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0" y="3575304"/>
            <a:ext cx="1901952" cy="5303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3694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Media &amp; Telecom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155680" y="36941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52%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0" y="4187952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0" y="4187952"/>
            <a:ext cx="1755648" cy="5303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0" y="4306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Retail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155680" y="43068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48%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772400" y="480060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0" y="4800600"/>
            <a:ext cx="1353312" cy="5303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0" y="4919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Manufacturing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155680" y="49194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37%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72400" y="5413248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0" y="5413248"/>
            <a:ext cx="1316736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63840" y="5532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Energy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155680" y="55321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36%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772400" y="6025896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6025896"/>
            <a:ext cx="128016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6144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Healthcare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155680" y="6144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35%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772400" y="640080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18120" y="6400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</a:rPr>
              <a:t>DAX: AVERAGEX(SUMMARIZE(...)) deduplication applied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4 — AI Platforms &amp; Market Share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AWS · Azure · GCP · 2019–2024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0408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2024 Snapshot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7830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783080"/>
            <a:ext cx="109728" cy="10789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3568" y="1856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AWS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73568" y="2194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Rev: $107.6B   Share: 30%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73568" y="2468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YoY: 18.5%   CAGR: 33.1%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72400" y="299008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0" y="2990088"/>
            <a:ext cx="109728" cy="1078992"/>
          </a:xfrm>
          <a:prstGeom prst="rect">
            <a:avLst/>
          </a:prstGeom>
          <a:solidFill>
            <a:srgbClr val="0089D6"/>
          </a:solidFill>
          <a:ln w="12700">
            <a:solidFill>
              <a:srgbClr val="0089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Microsoft Azure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73568" y="3401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Rev: $71.8B   Share: 25%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73568" y="3675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YoY: 40.8%   CAGR: 39.1%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72400" y="4197096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0" y="4197096"/>
            <a:ext cx="109728" cy="107899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73568" y="4270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Google Cloud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73568" y="46085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Rev: $43.2B   Share: 12%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973568" y="48828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YoY: 30.5%   CAGR: 37.1%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0" y="54041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772400" y="5404104"/>
            <a:ext cx="109728" cy="107899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73568" y="5477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Others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973568" y="5815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Rev: $63.5B   Share: 33%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73568" y="6089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YoY: 17.6%   CAGR: 19.8%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772400" y="6400800"/>
            <a:ext cx="41148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18120" y="6400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Azure fastest-growing despite being 2nd in revenue — OpenAI investment effect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5 — Future Opportunity &amp; Gap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Forecast to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0408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Opportunity Findings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7830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783080"/>
            <a:ext cx="1051560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1783080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$401B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87968" y="187452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Projected 2025 market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87968" y="225856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Based on 52.2% CAGR · 2024 actual: $263.6B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0" y="299008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0" y="2990088"/>
            <a:ext cx="1051560" cy="10789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2990088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LEADERS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87968" y="30815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USA · UK · Japan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87968" y="346557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 readiness + high revenue — fully positioned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772400" y="4197096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0" y="4197096"/>
            <a:ext cx="1051560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4197096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87968" y="428853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Singapore · Australia · S.Korea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87968" y="467258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 readiness, low revenue — top vendor opportunity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0" y="54041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772400" y="5404104"/>
            <a:ext cx="1051560" cy="107899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5404104"/>
            <a:ext cx="105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+15.8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887968" y="5495544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India's readiness gain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887968" y="587959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Fastest improver 2019–2024 despite Lower-Middle Income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Technical Highlights — SQL &amp; DAX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486400" cy="5349240"/>
          </a:xfrm>
          <a:prstGeom prst="rect">
            <a:avLst/>
          </a:prstGeom>
          <a:solidFill>
            <a:srgbClr val="0A1628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 — 9 Analytical Queries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212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Window function: live market share per year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provider_name,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ROUND(revenue / SUM(revenue)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 (PARTITION BY year) * 100,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share_pct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ai_cloud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year, share_pct DESC;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-- 5-Year CAGR per country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ROUND((POWER(rev_2024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NULLIF(rev_2019, 0), 1.0/5) - 1)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100, 2) AS cagr_pct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country_revs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cagr_pct DESC;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Industry scaling tier (CASE WHEN)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industry,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AVG(prod_rate) &gt;= 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'Scale Leader'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AVG(prod_rate) &gt;= 45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'Moderate Scaler'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'Struggling'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scaling_tier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ai_industry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industry;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486400" cy="5349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234440"/>
            <a:ext cx="54864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34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 — Key DAX Measures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5212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Deduplication fix (IDC join creates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duplicate rows per industry-year-region)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industry Adoption Rate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AVERAGEX(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ai_industry,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ai_industry[year],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ai_industry[industry],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ai_industry[region],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"d", AVERAGE(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ai_industry[ai_adoption_rate_pct])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 [d]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Projected 2025 revenue (52.2% CAGR)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 2025 Revenue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Rev2024 = CALCULATE(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SUM(ai_geo[market_revenue_usd_bn]),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ALL(ai_geo[year]),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ai_geo[year] = 2024)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ROUND(Rev2024 * 1.522, 1)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48640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99032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AI adoption doubled in 6 years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33.9% → 73.4% globally (2019–2025). Technology leads at 68%; Healthcare lags at 35% due to regulatory barriers — exactly the kind of segmentation that business strategy decisions are built 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886200"/>
            <a:ext cx="548640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4050792"/>
            <a:ext cx="594360" cy="5943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0690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USA leads but the gap is closing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USA invested $326.8B — 5× China. But India grew readiness by 15.8 points (fastest globally) and Brazil by 13.7. Emerging markets are closing the gap faster than investment figures suggest.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548640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6792" y="1399032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4173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Azure is the cloud story of the decade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Azure grew at 44.3% avg YoY — fastest of the three major providers. Microsoft's $10B OpenAI investment in 2023 is visible directly in the YoY growth data. Market share climbed 18% → 25%.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8640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4050792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7 countries are under-monetised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Singapore, Australia, Japan, Canada, South Korea, Germany, France all score 80+ in AI readiness but show disproportionately low market revenue — the clearest opportunity signal in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840480"/>
            <a:ext cx="4114800" cy="4114800"/>
          </a:xfrm>
          <a:prstGeom prst="ellipse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</a:rPr>
              <a:t>Global AI Adoption &amp; Market Landscape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4572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4612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 ·  pandas  ·  SQLAlchemy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 ·  Window Functions  ·  CAGR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2519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Power BI  ·  20+ DAX Measures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 Sources  ·  14 Countries  ·  8 Industries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217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Data: McKinsey · Stanford HAI · OECD · Statista · IDC · Amazon/Alphabet Annual Reports  ·  Built: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AI Adoption &amp; Market Landscape</dc:title>
  <dc:subject>PptxGenJS Presentation</dc:subject>
  <dc:creator>Data Analytics Portfolio</dc:creator>
  <cp:lastModifiedBy>Data Analytics Portfolio</cp:lastModifiedBy>
  <cp:revision>1</cp:revision>
  <dcterms:created xsi:type="dcterms:W3CDTF">2026-03-06T03:38:32Z</dcterms:created>
  <dcterms:modified xsi:type="dcterms:W3CDTF">2026-03-06T03:38:32Z</dcterms:modified>
</cp:coreProperties>
</file>